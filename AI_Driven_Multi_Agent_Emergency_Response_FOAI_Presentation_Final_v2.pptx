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88952" cy="7315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914400"/>
            <a:ext cx="12188952" cy="7315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828800"/>
            <a:ext cx="12188952" cy="7315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743200"/>
            <a:ext cx="12188952" cy="7315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3657600"/>
            <a:ext cx="12188952" cy="7315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572000"/>
            <a:ext cx="12188952" cy="7315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5486400"/>
            <a:ext cx="12188952" cy="7315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00800"/>
            <a:ext cx="12188952" cy="7315"/>
          </a:xfrm>
          <a:prstGeom prst="rect">
            <a:avLst/>
          </a:prstGeom>
          <a:solidFill>
            <a:srgbClr val="0C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2920"/>
            <a:ext cx="6949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ADCBE"/>
                </a:solidFill>
                <a:latin typeface="Consolas"/>
              </a:rPr>
              <a:t>FOUNDATIONS OF ARTIFICIAL INTELLIGENCE  ·  CASE STUDY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143000"/>
            <a:ext cx="61264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 i="0">
                <a:solidFill>
                  <a:srgbClr val="EDF5FA"/>
                </a:solidFill>
                <a:latin typeface="Aptos"/>
              </a:rPr>
              <a:t>AI-DRIVEN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755648"/>
            <a:ext cx="71323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900" b="1" i="0">
                <a:solidFill>
                  <a:srgbClr val="2ADCBE"/>
                </a:solidFill>
                <a:latin typeface="Aptos"/>
              </a:rPr>
              <a:t>MULTI-AGENT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450592"/>
            <a:ext cx="8046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 i="0">
                <a:solidFill>
                  <a:srgbClr val="EDF5FA"/>
                </a:solidFill>
                <a:latin typeface="Aptos"/>
              </a:rPr>
              <a:t>EMERGENCY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3136392"/>
            <a:ext cx="7955279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A0B5C5"/>
                </a:solidFill>
                <a:latin typeface="Aptos"/>
              </a:rPr>
              <a:t>&amp; HOSPITAL COORDINATION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67328"/>
            <a:ext cx="68580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 i="0">
                <a:solidFill>
                  <a:srgbClr val="FFB94D"/>
                </a:solidFill>
                <a:latin typeface="Aptos"/>
              </a:rPr>
              <a:t>Autonomous agents • Classical AI • Dynamic replanning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960120"/>
            <a:ext cx="2971800" cy="41605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732520" y="1417320"/>
            <a:ext cx="10972" cy="3154680"/>
          </a:xfrm>
          <a:prstGeom prst="rect">
            <a:avLst/>
          </a:prstGeom>
          <a:solidFill>
            <a:srgbClr val="27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1417320"/>
            <a:ext cx="10972" cy="3154680"/>
          </a:xfrm>
          <a:prstGeom prst="rect">
            <a:avLst/>
          </a:prstGeom>
          <a:solidFill>
            <a:srgbClr val="27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38360" y="1417320"/>
            <a:ext cx="10972" cy="3154680"/>
          </a:xfrm>
          <a:prstGeom prst="rect">
            <a:avLst/>
          </a:prstGeom>
          <a:solidFill>
            <a:srgbClr val="27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41280" y="1417320"/>
            <a:ext cx="10972" cy="3154680"/>
          </a:xfrm>
          <a:prstGeom prst="rect">
            <a:avLst/>
          </a:prstGeom>
          <a:solidFill>
            <a:srgbClr val="27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744200" y="1417320"/>
            <a:ext cx="10972" cy="3154680"/>
          </a:xfrm>
          <a:prstGeom prst="rect">
            <a:avLst/>
          </a:prstGeom>
          <a:solidFill>
            <a:srgbClr val="27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32520" y="1417320"/>
            <a:ext cx="2331720" cy="10972"/>
          </a:xfrm>
          <a:prstGeom prst="rect">
            <a:avLst/>
          </a:prstGeom>
          <a:solidFill>
            <a:srgbClr val="27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32520" y="1947672"/>
            <a:ext cx="2331720" cy="10972"/>
          </a:xfrm>
          <a:prstGeom prst="rect">
            <a:avLst/>
          </a:prstGeom>
          <a:solidFill>
            <a:srgbClr val="27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732520" y="2478024"/>
            <a:ext cx="2331720" cy="10972"/>
          </a:xfrm>
          <a:prstGeom prst="rect">
            <a:avLst/>
          </a:prstGeom>
          <a:solidFill>
            <a:srgbClr val="27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32520" y="3008376"/>
            <a:ext cx="2331720" cy="10972"/>
          </a:xfrm>
          <a:prstGeom prst="rect">
            <a:avLst/>
          </a:prstGeom>
          <a:solidFill>
            <a:srgbClr val="27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32520" y="3538728"/>
            <a:ext cx="2331720" cy="10972"/>
          </a:xfrm>
          <a:prstGeom prst="rect">
            <a:avLst/>
          </a:prstGeom>
          <a:solidFill>
            <a:srgbClr val="27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32520" y="4069080"/>
            <a:ext cx="2331720" cy="10972"/>
          </a:xfrm>
          <a:prstGeom prst="rect">
            <a:avLst/>
          </a:prstGeom>
          <a:solidFill>
            <a:srgbClr val="27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8979408" y="4069080"/>
            <a:ext cx="502920" cy="0"/>
          </a:xfrm>
          <a:prstGeom prst="line">
            <a:avLst/>
          </a:prstGeom>
          <a:ln w="2540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482328" y="3538728"/>
            <a:ext cx="0" cy="530352"/>
          </a:xfrm>
          <a:prstGeom prst="line">
            <a:avLst/>
          </a:prstGeom>
          <a:ln w="2540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9482328" y="3538728"/>
            <a:ext cx="1005840" cy="0"/>
          </a:xfrm>
          <a:prstGeom prst="line">
            <a:avLst/>
          </a:prstGeom>
          <a:ln w="2540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488168" y="2468880"/>
            <a:ext cx="0" cy="1069848"/>
          </a:xfrm>
          <a:prstGeom prst="line">
            <a:avLst/>
          </a:prstGeom>
          <a:ln w="2540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488168" y="2468880"/>
            <a:ext cx="502920" cy="0"/>
          </a:xfrm>
          <a:prstGeom prst="line">
            <a:avLst/>
          </a:prstGeom>
          <a:ln w="2540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8842248" y="3913632"/>
            <a:ext cx="292608" cy="292608"/>
          </a:xfrm>
          <a:prstGeom prst="ellipse">
            <a:avLst/>
          </a:prstGeom>
          <a:solidFill>
            <a:srgbClr val="112A3D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42248" y="3945636"/>
            <a:ext cx="29260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B94D"/>
                </a:solidFill>
                <a:latin typeface="Consolas"/>
              </a:rPr>
              <a:t>P</a:t>
            </a:r>
          </a:p>
        </p:txBody>
      </p:sp>
      <p:sp>
        <p:nvSpPr>
          <p:cNvPr id="49" name="Oval 48"/>
          <p:cNvSpPr/>
          <p:nvPr/>
        </p:nvSpPr>
        <p:spPr>
          <a:xfrm>
            <a:off x="9326880" y="3383280"/>
            <a:ext cx="292608" cy="292608"/>
          </a:xfrm>
          <a:prstGeom prst="ellipse">
            <a:avLst/>
          </a:prstGeom>
          <a:solidFill>
            <a:srgbClr val="112A3D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26880" y="3415284"/>
            <a:ext cx="29260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ADCBE"/>
                </a:solidFill>
                <a:latin typeface="Consolas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332720" y="2313432"/>
            <a:ext cx="292608" cy="292608"/>
          </a:xfrm>
          <a:prstGeom prst="ellipse">
            <a:avLst/>
          </a:prstGeom>
          <a:solidFill>
            <a:srgbClr val="112A3D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32720" y="2345436"/>
            <a:ext cx="29260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69E2A4"/>
                </a:solidFill>
                <a:latin typeface="Consolas"/>
              </a:rPr>
              <a:t>H</a:t>
            </a:r>
          </a:p>
        </p:txBody>
      </p:sp>
      <p:sp>
        <p:nvSpPr>
          <p:cNvPr id="53" name="Oval 52"/>
          <p:cNvSpPr/>
          <p:nvPr/>
        </p:nvSpPr>
        <p:spPr>
          <a:xfrm>
            <a:off x="10835640" y="2313432"/>
            <a:ext cx="292608" cy="292608"/>
          </a:xfrm>
          <a:prstGeom prst="ellipse">
            <a:avLst/>
          </a:prstGeom>
          <a:solidFill>
            <a:srgbClr val="112A3D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835640" y="2345436"/>
            <a:ext cx="29260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FFB94D"/>
                </a:solidFill>
                <a:latin typeface="Consolas"/>
              </a:rPr>
              <a:t>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32520" y="4617720"/>
            <a:ext cx="2331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EDF5FA"/>
                </a:solidFill>
                <a:latin typeface="Aptos"/>
              </a:rPr>
              <a:t>6 autonomous agent types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4983480"/>
            <a:ext cx="71323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F5FA"/>
                </a:solidFill>
                <a:latin typeface="Aptos"/>
              </a:rPr>
              <a:t>Presented by: N.BHARATH KUMAR REDDY  |  CB.SC.U4CSE23734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263640"/>
            <a:ext cx="80467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A0B5C5"/>
                </a:solidFill>
                <a:latin typeface="Consolas"/>
              </a:rPr>
              <a:t>Academic simulation — not a clinical dispatch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01 · MOTIVATION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508760"/>
            <a:ext cx="5257800" cy="43434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1508760"/>
            <a:ext cx="50292" cy="4343400"/>
          </a:xfrm>
          <a:prstGeom prst="rect">
            <a:avLst/>
          </a:prstGeom>
          <a:solidFill>
            <a:srgbClr val="FF6670"/>
          </a:solidFill>
          <a:ln w="10160">
            <a:solidFill>
              <a:srgbClr val="F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1636776"/>
            <a:ext cx="49651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FF6670"/>
                </a:solidFill>
                <a:latin typeface="Aptos"/>
              </a:rPr>
              <a:t>THE PROBLEM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2020824"/>
            <a:ext cx="4965192" cy="3749039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EDF5FA"/>
                </a:solidFill>
                <a:latin typeface="Aptos"/>
              </a:defRPr>
            </a:pPr>
            <a:r>
              <a:t>•  Road traffic and road closures change during response.</a:t>
            </a:r>
          </a:p>
          <a:p>
            <a:pPr>
              <a:spcAft>
                <a:spcPts val="500"/>
              </a:spcAft>
              <a:defRPr sz="1500" b="0">
                <a:solidFill>
                  <a:srgbClr val="EDF5FA"/>
                </a:solidFill>
                <a:latin typeface="Aptos"/>
              </a:defRPr>
            </a:pPr>
            <a:r>
              <a:t>•  Nearest hospital may lack ICU capacity or a required specialist.</a:t>
            </a:r>
          </a:p>
          <a:p>
            <a:pPr>
              <a:spcAft>
                <a:spcPts val="500"/>
              </a:spcAft>
              <a:defRPr sz="1500" b="0">
                <a:solidFill>
                  <a:srgbClr val="EDF5FA"/>
                </a:solidFill>
                <a:latin typeface="Aptos"/>
              </a:defRPr>
            </a:pPr>
            <a:r>
              <a:t>•  Several emergencies can compete for limited ambulances and beds.</a:t>
            </a:r>
          </a:p>
          <a:p>
            <a:pPr>
              <a:spcAft>
                <a:spcPts val="500"/>
              </a:spcAft>
              <a:defRPr sz="1500" b="0">
                <a:solidFill>
                  <a:srgbClr val="EDF5FA"/>
                </a:solidFill>
                <a:latin typeface="Aptos"/>
              </a:defRPr>
            </a:pPr>
            <a:r>
              <a:t>•  A fixed route or static assignment can become invalid mid-mission.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508760"/>
            <a:ext cx="5257800" cy="43434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508760"/>
            <a:ext cx="50292" cy="4343400"/>
          </a:xfrm>
          <a:prstGeom prst="rect">
            <a:avLst/>
          </a:prstGeom>
          <a:solidFill>
            <a:srgbClr val="2ADCBE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1636776"/>
            <a:ext cx="49651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2ADCBE"/>
                </a:solidFill>
                <a:latin typeface="Aptos"/>
              </a:rPr>
              <a:t>OUR AI APPROACH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2020824"/>
            <a:ext cx="4965192" cy="3749039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EDF5FA"/>
                </a:solidFill>
                <a:latin typeface="Aptos"/>
              </a:defRPr>
            </a:pPr>
            <a:r>
              <a:t>•  Model patients, ambulances, hospitals, doctors and traffic as agents.</a:t>
            </a:r>
          </a:p>
          <a:p>
            <a:pPr>
              <a:spcAft>
                <a:spcPts val="500"/>
              </a:spcAft>
              <a:defRPr sz="1500" b="0">
                <a:solidFill>
                  <a:srgbClr val="EDF5FA"/>
                </a:solidFill>
                <a:latin typeface="Aptos"/>
              </a:defRPr>
            </a:pPr>
            <a:r>
              <a:t>•  Use search to calculate routes across a weighted city graph.</a:t>
            </a:r>
          </a:p>
          <a:p>
            <a:pPr>
              <a:spcAft>
                <a:spcPts val="500"/>
              </a:spcAft>
              <a:defRPr sz="1500" b="0">
                <a:solidFill>
                  <a:srgbClr val="EDF5FA"/>
                </a:solidFill>
                <a:latin typeface="Aptos"/>
              </a:defRPr>
            </a:pPr>
            <a:r>
              <a:t>•  Use knowledge rules and utility scores to assess hospital suitability.</a:t>
            </a:r>
          </a:p>
          <a:p>
            <a:pPr>
              <a:spcAft>
                <a:spcPts val="500"/>
              </a:spcAft>
              <a:defRPr sz="1500" b="0">
                <a:solidFill>
                  <a:srgbClr val="EDF5FA"/>
                </a:solidFill>
                <a:latin typeface="Aptos"/>
              </a:defRPr>
            </a:pPr>
            <a:r>
              <a:t>•  Re-plan when traffic or medical resources change.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5989320"/>
            <a:ext cx="6400800" cy="292608"/>
          </a:xfrm>
          <a:prstGeom prst="roundRect">
            <a:avLst/>
          </a:prstGeom>
          <a:solidFill>
            <a:srgbClr val="112A3D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71216" y="6030468"/>
            <a:ext cx="63276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FFB94D"/>
                </a:solidFill>
                <a:latin typeface="Consolas"/>
              </a:rPr>
              <a:t>GOAL: SAFE, SUITABLE, LOW-COST EMERGENCY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02 · REVIEW FUNDAMENTALS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PEAS Formulation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1600200"/>
            <a:ext cx="2606040" cy="402336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" y="1600200"/>
            <a:ext cx="50292" cy="4023360"/>
          </a:xfrm>
          <a:prstGeom prst="rect">
            <a:avLst/>
          </a:prstGeom>
          <a:solidFill>
            <a:srgbClr val="2ADCBE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1728216"/>
            <a:ext cx="231343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ADCBE"/>
                </a:solidFill>
                <a:latin typeface="Aptos"/>
              </a:rPr>
              <a:t>P · 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2112264"/>
            <a:ext cx="2313432" cy="342900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Minimize response and transport time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Meet patient resource needs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Reduce resource conflicts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6432" y="1600200"/>
            <a:ext cx="2606040" cy="402336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56432" y="1600200"/>
            <a:ext cx="50292" cy="4023360"/>
          </a:xfrm>
          <a:prstGeom prst="rect">
            <a:avLst/>
          </a:prstGeom>
          <a:solidFill>
            <a:srgbClr val="FFB94D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21024" y="1728216"/>
            <a:ext cx="231343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B94D"/>
                </a:solidFill>
                <a:latin typeface="Aptos"/>
              </a:rPr>
              <a:t>E · 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21024" y="2112264"/>
            <a:ext cx="2313432" cy="342900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10×10 weighted city grid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Patients, roads, hospitals, doctors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Dynamic traffic and resource states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1600200"/>
            <a:ext cx="2606040" cy="402336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600200"/>
            <a:ext cx="50292" cy="4023360"/>
          </a:xfrm>
          <a:prstGeom prst="rect">
            <a:avLst/>
          </a:prstGeom>
          <a:solidFill>
            <a:srgbClr val="69E2A4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1728216"/>
            <a:ext cx="231343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69E2A4"/>
                </a:solidFill>
                <a:latin typeface="Aptos"/>
              </a:rPr>
              <a:t>A · ACTUATORS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2112264"/>
            <a:ext cx="2313432" cy="342900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Dispatch / move ambulance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Choose route and hospital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Reserve bed / ICU; re-plan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62288" y="1600200"/>
            <a:ext cx="2423160" cy="402336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62288" y="1600200"/>
            <a:ext cx="50292" cy="4023360"/>
          </a:xfrm>
          <a:prstGeom prst="rect">
            <a:avLst/>
          </a:prstGeom>
          <a:solidFill>
            <a:srgbClr val="6FB0FF"/>
          </a:solidFill>
          <a:ln w="10160">
            <a:solidFill>
              <a:srgbClr val="6F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1728216"/>
            <a:ext cx="21305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6FB0FF"/>
                </a:solidFill>
                <a:latin typeface="Aptos"/>
              </a:rPr>
              <a:t>S · SENSORS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2112264"/>
            <a:ext cx="2130552" cy="342900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Agent location and status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Road congestion / blockage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Bed, ICU and specialist availability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852160"/>
            <a:ext cx="105156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1">
                <a:solidFill>
                  <a:srgbClr val="A0B5C5"/>
                </a:solidFill>
                <a:latin typeface="Aptos"/>
              </a:rPr>
              <a:t>PEAS is defined for the agent system; each agent has its own local sensors, actions and goal.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02 · REVIEW FUNDAMENTALS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Environment &amp; Agent Analysis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1554480"/>
            <a:ext cx="3429000" cy="123444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1554480"/>
            <a:ext cx="50292" cy="1234440"/>
          </a:xfrm>
          <a:prstGeom prst="rect">
            <a:avLst/>
          </a:prstGeom>
          <a:solidFill>
            <a:srgbClr val="2ADCBE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1682495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ADCBE"/>
                </a:solidFill>
                <a:latin typeface="Aptos"/>
              </a:rPr>
              <a:t>MULTI-AGENT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2066543"/>
            <a:ext cx="3136392" cy="64008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DF5FA"/>
                </a:solidFill>
                <a:latin typeface="Aptos"/>
              </a:defRPr>
            </a:pPr>
            <a:r>
              <a:t>•  6 agent types act and communicate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1554480"/>
            <a:ext cx="3429000" cy="123444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1554480"/>
            <a:ext cx="50292" cy="1234440"/>
          </a:xfrm>
          <a:prstGeom prst="rect">
            <a:avLst/>
          </a:prstGeom>
          <a:solidFill>
            <a:srgbClr val="FFB94D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1682495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B94D"/>
                </a:solidFill>
                <a:latin typeface="Aptos"/>
              </a:rPr>
              <a:t>DYNAMIC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2066543"/>
            <a:ext cx="3136392" cy="64008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DF5FA"/>
                </a:solidFill>
                <a:latin typeface="Aptos"/>
              </a:defRPr>
            </a:pPr>
            <a:r>
              <a:t>•  Traffic and resource counts can change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1554480"/>
            <a:ext cx="3429000" cy="123444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20" y="1554480"/>
            <a:ext cx="50292" cy="1234440"/>
          </a:xfrm>
          <a:prstGeom prst="rect">
            <a:avLst/>
          </a:prstGeom>
          <a:solidFill>
            <a:srgbClr val="6FB0FF"/>
          </a:solidFill>
          <a:ln w="10160">
            <a:solidFill>
              <a:srgbClr val="6F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1682495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FB0FF"/>
                </a:solidFill>
                <a:latin typeface="Aptos"/>
              </a:rPr>
              <a:t>PARTIALLY OBSERVABLE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9912" y="2066543"/>
            <a:ext cx="3136392" cy="64008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DF5FA"/>
                </a:solidFill>
                <a:latin typeface="Aptos"/>
              </a:defRPr>
            </a:pPr>
            <a:r>
              <a:t>•  Each agent has local knowledge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063239"/>
            <a:ext cx="3429000" cy="123444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5800" y="3063239"/>
            <a:ext cx="50292" cy="1234440"/>
          </a:xfrm>
          <a:prstGeom prst="rect">
            <a:avLst/>
          </a:prstGeom>
          <a:solidFill>
            <a:srgbClr val="FF6670"/>
          </a:solidFill>
          <a:ln w="10160">
            <a:solidFill>
              <a:srgbClr val="F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" y="3191256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6670"/>
                </a:solidFill>
                <a:latin typeface="Aptos"/>
              </a:rPr>
              <a:t>STOCHASTIC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3575303"/>
            <a:ext cx="3136392" cy="64008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DF5FA"/>
                </a:solidFill>
                <a:latin typeface="Aptos"/>
              </a:defRPr>
            </a:pPr>
            <a:r>
              <a:t>•  Incidents and availability changes are simulated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60" y="3063239"/>
            <a:ext cx="3429000" cy="123444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80560" y="3063239"/>
            <a:ext cx="50292" cy="1234440"/>
          </a:xfrm>
          <a:prstGeom prst="rect">
            <a:avLst/>
          </a:prstGeom>
          <a:solidFill>
            <a:srgbClr val="69E2A4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45152" y="3191256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9E2A4"/>
                </a:solidFill>
                <a:latin typeface="Aptos"/>
              </a:rPr>
              <a:t>SEQUENTIAL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52" y="3575303"/>
            <a:ext cx="3136392" cy="64008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DF5FA"/>
                </a:solidFill>
                <a:latin typeface="Aptos"/>
              </a:defRPr>
            </a:pPr>
            <a:r>
              <a:t>•  Each action changes later states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75320" y="3063239"/>
            <a:ext cx="3429000" cy="123444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20" y="3063239"/>
            <a:ext cx="50292" cy="1234440"/>
          </a:xfrm>
          <a:prstGeom prst="rect">
            <a:avLst/>
          </a:prstGeom>
          <a:solidFill>
            <a:srgbClr val="17978B"/>
          </a:solidFill>
          <a:ln w="10160">
            <a:solidFill>
              <a:srgbClr val="17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9912" y="3191256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7978B"/>
                </a:solidFill>
                <a:latin typeface="Aptos"/>
              </a:rPr>
              <a:t>COOPERATIVE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9912" y="3575303"/>
            <a:ext cx="3136392" cy="64008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DF5FA"/>
                </a:solidFill>
                <a:latin typeface="Aptos"/>
              </a:defRPr>
            </a:pPr>
            <a:r>
              <a:t>•  Agents share the goal of resolving emergencies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4800600"/>
            <a:ext cx="1700784" cy="777240"/>
          </a:xfrm>
          <a:prstGeom prst="roundRect">
            <a:avLst/>
          </a:prstGeom>
          <a:solidFill>
            <a:srgbClr val="112A3D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" y="4919472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B94D"/>
                </a:solidFill>
                <a:latin typeface="Aptos"/>
              </a:rPr>
              <a:t>Patient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8" y="5184648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DF5FA"/>
                </a:solidFill>
                <a:latin typeface="Aptos"/>
              </a:rPr>
              <a:t>Emergency request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15184" y="4800600"/>
            <a:ext cx="1700784" cy="777240"/>
          </a:xfrm>
          <a:prstGeom prst="roundRect">
            <a:avLst/>
          </a:prstGeom>
          <a:solidFill>
            <a:srgbClr val="112A3D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60904" y="4919472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ADCBE"/>
                </a:solidFill>
                <a:latin typeface="Aptos"/>
              </a:rPr>
              <a:t>Ambulance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5184648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DF5FA"/>
                </a:solidFill>
                <a:latin typeface="Aptos"/>
              </a:rPr>
              <a:t>Routing &amp; transport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17136" y="4800600"/>
            <a:ext cx="1700784" cy="777240"/>
          </a:xfrm>
          <a:prstGeom prst="roundRect">
            <a:avLst/>
          </a:prstGeom>
          <a:solidFill>
            <a:srgbClr val="112A3D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62856" y="4919472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69E2A4"/>
                </a:solidFill>
                <a:latin typeface="Aptos"/>
              </a:rPr>
              <a:t>Hospital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53712" y="5184648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DF5FA"/>
                </a:solidFill>
                <a:latin typeface="Aptos"/>
              </a:rPr>
              <a:t>Capacity &amp; admission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19088" y="4800600"/>
            <a:ext cx="1700784" cy="777240"/>
          </a:xfrm>
          <a:prstGeom prst="roundRect">
            <a:avLst/>
          </a:prstGeom>
          <a:solidFill>
            <a:srgbClr val="112A3D"/>
          </a:solidFill>
          <a:ln w="10160">
            <a:solidFill>
              <a:srgbClr val="6F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64808" y="4919472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6FB0FF"/>
                </a:solidFill>
                <a:latin typeface="Aptos"/>
              </a:rPr>
              <a:t>Doctor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55664" y="5184648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DF5FA"/>
                </a:solidFill>
                <a:latin typeface="Aptos"/>
              </a:rPr>
              <a:t>Specialty &amp; availability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321040" y="4800600"/>
            <a:ext cx="1700784" cy="777240"/>
          </a:xfrm>
          <a:prstGeom prst="roundRect">
            <a:avLst/>
          </a:prstGeom>
          <a:solidFill>
            <a:srgbClr val="112A3D"/>
          </a:solidFill>
          <a:ln w="10160">
            <a:solidFill>
              <a:srgbClr val="F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66760" y="4919472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6670"/>
                </a:solidFill>
                <a:latin typeface="Aptos"/>
              </a:rPr>
              <a:t>Traffic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57615" y="5184648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DF5FA"/>
                </a:solidFill>
                <a:latin typeface="Aptos"/>
              </a:rPr>
              <a:t>Road-state updates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222992" y="4800600"/>
            <a:ext cx="1700784" cy="777240"/>
          </a:xfrm>
          <a:prstGeom prst="roundRect">
            <a:avLst/>
          </a:prstGeom>
          <a:solidFill>
            <a:srgbClr val="112A3D"/>
          </a:solidFill>
          <a:ln w="10160">
            <a:solidFill>
              <a:srgbClr val="17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68712" y="4919472"/>
            <a:ext cx="1609344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7978B"/>
                </a:solidFill>
                <a:latin typeface="Aptos"/>
              </a:rPr>
              <a:t>Coordinator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59567" y="5184648"/>
            <a:ext cx="1627632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EDF5FA"/>
                </a:solidFill>
                <a:latin typeface="Aptos"/>
              </a:rPr>
              <a:t>Priority &amp; replanning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03 ·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State-Space Modeling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508760"/>
            <a:ext cx="3703320" cy="43891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1508760"/>
            <a:ext cx="50292" cy="4389120"/>
          </a:xfrm>
          <a:prstGeom prst="rect">
            <a:avLst/>
          </a:prstGeom>
          <a:solidFill>
            <a:srgbClr val="2ADCBE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1636776"/>
            <a:ext cx="34107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ADCBE"/>
                </a:solidFill>
                <a:latin typeface="Aptos"/>
              </a:rPr>
              <a:t>FORMAL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2020824"/>
            <a:ext cx="3410712" cy="3794759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EDF5FA"/>
                </a:solidFill>
                <a:latin typeface="Aptos"/>
              </a:defRPr>
            </a:pPr>
            <a:r>
              <a:t>•  City = weighted graph G = (V, E)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V: 100 intersections on a 10×10 grid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E: connected road segments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State: agent location, target, road costs and traffic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Action: move to a valid neighbouring cell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Goal: reach patient / suitable hospital at low cost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1508760"/>
            <a:ext cx="6903720" cy="43891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1719072"/>
            <a:ext cx="30175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ADCBE"/>
                </a:solidFill>
                <a:latin typeface="Consolas"/>
              </a:rPr>
              <a:t>ILLUSTRATIVE CITY GRID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22402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0" y="22402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989320" y="22402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92240" y="22402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95160" y="22402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22402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22402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03920" y="22402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06840" y="22402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9760" y="22402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983480" y="274320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0" y="2743200"/>
            <a:ext cx="470916" cy="470916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89320" y="2743200"/>
            <a:ext cx="470916" cy="470916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274320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95160" y="274320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498079" y="274320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01000" y="2743200"/>
            <a:ext cx="470916" cy="470916"/>
          </a:xfrm>
          <a:prstGeom prst="rect">
            <a:avLst/>
          </a:prstGeom>
          <a:solidFill>
            <a:srgbClr val="782D3C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503920" y="274320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06840" y="274320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09760" y="274320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83480" y="324612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486400" y="324612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989320" y="3246120"/>
            <a:ext cx="470916" cy="470916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246120"/>
            <a:ext cx="470916" cy="470916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95160" y="324612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498079" y="324612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01000" y="3246120"/>
            <a:ext cx="470916" cy="470916"/>
          </a:xfrm>
          <a:prstGeom prst="rect">
            <a:avLst/>
          </a:prstGeom>
          <a:solidFill>
            <a:srgbClr val="782D3C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03920" y="324612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06840" y="324612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509760" y="324612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983480" y="374904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86400" y="374904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89320" y="374904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92240" y="3749040"/>
            <a:ext cx="470916" cy="470916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995160" y="3749040"/>
            <a:ext cx="470916" cy="470916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498079" y="374904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01000" y="3749040"/>
            <a:ext cx="470916" cy="470916"/>
          </a:xfrm>
          <a:prstGeom prst="rect">
            <a:avLst/>
          </a:prstGeom>
          <a:solidFill>
            <a:srgbClr val="782D3C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503920" y="374904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06840" y="374904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509760" y="374904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983480" y="425196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486400" y="425196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89320" y="425196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492240" y="425196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995160" y="4251960"/>
            <a:ext cx="470916" cy="470916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498079" y="4251960"/>
            <a:ext cx="470916" cy="470916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01000" y="425196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503920" y="425196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9006840" y="425196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509760" y="425196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83480" y="47548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486400" y="47548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989320" y="47548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492240" y="47548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95160" y="47548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98079" y="47548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001000" y="47548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503920" y="47548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006840" y="47548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509760" y="4754880"/>
            <a:ext cx="470916" cy="470916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029200" y="326440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B94D"/>
                </a:solidFill>
                <a:latin typeface="Consolas"/>
              </a:rPr>
              <a:t>P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35040" y="276148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EDF5FA"/>
                </a:solidFill>
                <a:latin typeface="Consolas"/>
              </a:rPr>
              <a:t>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509760" y="4279392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69E2A4"/>
                </a:solidFill>
                <a:latin typeface="Consolas"/>
              </a:rPr>
              <a:t>H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983480" y="5532120"/>
            <a:ext cx="4114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Red cells = blocked / high-penalty roads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83480" y="5742432"/>
            <a:ext cx="539496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Teal cells = one illustrative route (not live simulation output)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03 ·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Search Algorithms &amp; Their Roles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1508760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ALGORITHM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1508760"/>
            <a:ext cx="1234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1508760"/>
            <a:ext cx="3520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PROJECT ROLE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1508760"/>
            <a:ext cx="1965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TRADE-OFF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1508760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STATUS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1874519"/>
            <a:ext cx="10927080" cy="612648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029967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BFS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2029967"/>
            <a:ext cx="1234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Uninformed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2029967"/>
            <a:ext cx="3520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DF5FA"/>
                </a:solidFill>
                <a:latin typeface="Aptos"/>
              </a:rPr>
              <a:t>Fewest hops on equal-cost edges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029967"/>
            <a:ext cx="1965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Ignores weighted traffic costs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2029967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ADCBE"/>
                </a:solidFill>
                <a:latin typeface="Aptos"/>
              </a:rPr>
              <a:t>Implemented module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" y="2624327"/>
            <a:ext cx="10927080" cy="612648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2779775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B94D"/>
                </a:solidFill>
                <a:latin typeface="Aptos"/>
              </a:rPr>
              <a:t>DFS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2779775"/>
            <a:ext cx="1234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Uninformed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2779775"/>
            <a:ext cx="3520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DF5FA"/>
                </a:solidFill>
                <a:latin typeface="Aptos"/>
              </a:rPr>
              <a:t>Exploration / comparison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779775"/>
            <a:ext cx="1965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May take a winding, costly route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38360" y="2779775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FFB94D"/>
                </a:solidFill>
                <a:latin typeface="Aptos"/>
              </a:rPr>
              <a:t>Implemented module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" y="3374135"/>
            <a:ext cx="10927080" cy="612648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529583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9E2A4"/>
                </a:solidFill>
                <a:latin typeface="Aptos"/>
              </a:rPr>
              <a:t>UCS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14600" y="3529583"/>
            <a:ext cx="1234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Cost-based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86200" y="3529583"/>
            <a:ext cx="3520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DF5FA"/>
                </a:solidFill>
                <a:latin typeface="Aptos"/>
              </a:rPr>
              <a:t>Lowest cumulative road cost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529583"/>
            <a:ext cx="1965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Can expand many nodes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3529583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9E2A4"/>
                </a:solidFill>
                <a:latin typeface="Aptos"/>
              </a:rPr>
              <a:t>Implemented module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" y="4123944"/>
            <a:ext cx="10927080" cy="612648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279392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FB0FF"/>
                </a:solidFill>
                <a:latin typeface="Aptos"/>
              </a:rPr>
              <a:t>Greedy Best-First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14600" y="4279392"/>
            <a:ext cx="1234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Informed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86200" y="4279392"/>
            <a:ext cx="3520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DF5FA"/>
                </a:solidFill>
                <a:latin typeface="Aptos"/>
              </a:rPr>
              <a:t>Fast heuristic-guided direction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4279392"/>
            <a:ext cx="1965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May miss the cheapest route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38360" y="4279392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6FB0FF"/>
                </a:solidFill>
                <a:latin typeface="Aptos"/>
              </a:rPr>
              <a:t>Implemented module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" y="4873752"/>
            <a:ext cx="10927080" cy="612648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029200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ADCBE"/>
                </a:solidFill>
                <a:latin typeface="Aptos"/>
              </a:rPr>
              <a:t>A*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14600" y="5029200"/>
            <a:ext cx="1234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Informed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86200" y="5029200"/>
            <a:ext cx="352044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DF5FA"/>
                </a:solidFill>
                <a:latin typeface="Aptos"/>
              </a:rPr>
              <a:t>Core cost-aware routing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5029200"/>
            <a:ext cx="1965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Needs a suitable heuristic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38360" y="5029200"/>
            <a:ext cx="17373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2ADCBE"/>
                </a:solidFill>
                <a:latin typeface="Aptos"/>
              </a:rPr>
              <a:t>Implemented module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" y="5897880"/>
            <a:ext cx="49377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EDF5FA"/>
                </a:solidFill>
                <a:latin typeface="Consolas"/>
              </a:rPr>
              <a:t>A* evaluation:  f(n) = g(n) + h(n)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32120" y="5925312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0B5C5"/>
                </a:solidFill>
                <a:latin typeface="Aptos"/>
              </a:rPr>
              <a:t>g(n) = cost so far  ·  h(n) = estimated remaining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03 ·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Path Length ≠ Path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1554480"/>
            <a:ext cx="5212080" cy="34747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1554480"/>
            <a:ext cx="50292" cy="3474720"/>
          </a:xfrm>
          <a:prstGeom prst="rect">
            <a:avLst/>
          </a:prstGeom>
          <a:solidFill>
            <a:srgbClr val="FFB94D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1682495"/>
            <a:ext cx="4919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B94D"/>
                </a:solidFill>
                <a:latin typeface="Aptos"/>
              </a:rPr>
              <a:t>PATH 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2066543"/>
            <a:ext cx="4919472" cy="288036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5FA"/>
                </a:solidFill>
                <a:latin typeface="Aptos"/>
              </a:defRPr>
            </a:pPr>
            <a:r>
              <a:t>•  Number of hops / road segments.</a:t>
            </a:r>
          </a:p>
          <a:p>
            <a:pPr>
              <a:spcAft>
                <a:spcPts val="500"/>
              </a:spcAft>
              <a:defRPr sz="1400" b="0">
                <a:solidFill>
                  <a:srgbClr val="EDF5FA"/>
                </a:solidFill>
                <a:latin typeface="Aptos"/>
              </a:defRPr>
            </a:pPr>
            <a:r>
              <a:t>•  BFS finds a route with the fewest hops when edges are unweighted.</a:t>
            </a:r>
          </a:p>
          <a:p>
            <a:pPr>
              <a:spcAft>
                <a:spcPts val="500"/>
              </a:spcAft>
              <a:defRPr sz="1400" b="0">
                <a:solidFill>
                  <a:srgbClr val="EDF5FA"/>
                </a:solidFill>
                <a:latin typeface="Aptos"/>
              </a:defRPr>
            </a:pPr>
            <a:r>
              <a:t>•  It does not account for congestion penalties in the weighted city.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554480"/>
            <a:ext cx="5212080" cy="34747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1554480"/>
            <a:ext cx="50292" cy="3474720"/>
          </a:xfrm>
          <a:prstGeom prst="rect">
            <a:avLst/>
          </a:prstGeom>
          <a:solidFill>
            <a:srgbClr val="2ADCBE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1682495"/>
            <a:ext cx="4919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ADCBE"/>
                </a:solidFill>
                <a:latin typeface="Aptos"/>
              </a:rPr>
              <a:t>PATH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2066543"/>
            <a:ext cx="4919472" cy="288036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DF5FA"/>
                </a:solidFill>
                <a:latin typeface="Aptos"/>
              </a:defRPr>
            </a:pPr>
            <a:r>
              <a:t>•  Sum of edge weights and traffic penalties.</a:t>
            </a:r>
          </a:p>
          <a:p>
            <a:pPr>
              <a:spcAft>
                <a:spcPts val="500"/>
              </a:spcAft>
              <a:defRPr sz="1400" b="0">
                <a:solidFill>
                  <a:srgbClr val="EDF5FA"/>
                </a:solidFill>
                <a:latin typeface="Aptos"/>
              </a:defRPr>
            </a:pPr>
            <a:r>
              <a:t>•  UCS and A* find a minimum-cost route with non-negative costs (A* with an admissible heuristic).</a:t>
            </a:r>
          </a:p>
          <a:p>
            <a:pPr>
              <a:spcAft>
                <a:spcPts val="500"/>
              </a:spcAft>
              <a:defRPr sz="1400" b="0">
                <a:solidFill>
                  <a:srgbClr val="EDF5FA"/>
                </a:solidFill>
                <a:latin typeface="Aptos"/>
              </a:defRPr>
            </a:pPr>
            <a:r>
              <a:t>•  A slightly longer detour can cost less than a congested direct route.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463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B94D"/>
                </a:solidFill>
                <a:latin typeface="Consolas"/>
              </a:rPr>
              <a:t>DIRECT ROUTE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23160" y="5321808"/>
            <a:ext cx="256032" cy="256032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0" y="5321808"/>
            <a:ext cx="256032" cy="256032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063239" y="5321808"/>
            <a:ext cx="256032" cy="256032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383279" y="5321808"/>
            <a:ext cx="256032" cy="256032"/>
          </a:xfrm>
          <a:prstGeom prst="rect">
            <a:avLst/>
          </a:prstGeom>
          <a:solidFill>
            <a:srgbClr val="FF6670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03320" y="5321808"/>
            <a:ext cx="256032" cy="256032"/>
          </a:xfrm>
          <a:prstGeom prst="rect">
            <a:avLst/>
          </a:prstGeom>
          <a:solidFill>
            <a:srgbClr val="FF6670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23360" y="5321808"/>
            <a:ext cx="256032" cy="256032"/>
          </a:xfrm>
          <a:prstGeom prst="rect">
            <a:avLst/>
          </a:prstGeom>
          <a:solidFill>
            <a:srgbClr val="FF6670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5321808"/>
            <a:ext cx="256032" cy="256032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63440" y="5321808"/>
            <a:ext cx="256032" cy="256032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5349240"/>
            <a:ext cx="13716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FF6670"/>
                </a:solidFill>
                <a:latin typeface="Aptos"/>
              </a:rPr>
              <a:t>high traffic cost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349240"/>
            <a:ext cx="914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ADCBE"/>
                </a:solidFill>
                <a:latin typeface="Consolas"/>
              </a:rPr>
              <a:t>DETOUR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35240" y="5321808"/>
            <a:ext cx="256032" cy="256032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55279" y="5321808"/>
            <a:ext cx="256032" cy="256032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19" y="5321808"/>
            <a:ext cx="256032" cy="256032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95359" y="5321808"/>
            <a:ext cx="256032" cy="256032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915400" y="5321808"/>
            <a:ext cx="256032" cy="256032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35440" y="5321808"/>
            <a:ext cx="256032" cy="256032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555480" y="5321808"/>
            <a:ext cx="256032" cy="256032"/>
          </a:xfrm>
          <a:prstGeom prst="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75519" y="5321808"/>
            <a:ext cx="256032" cy="256032"/>
          </a:xfrm>
          <a:prstGeom prst="rect">
            <a:avLst/>
          </a:prstGeom>
          <a:solidFill>
            <a:srgbClr val="17978B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87000" y="5349240"/>
            <a:ext cx="1097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 i="0">
                <a:solidFill>
                  <a:srgbClr val="69E2A4"/>
                </a:solidFill>
                <a:latin typeface="Aptos"/>
              </a:rPr>
              <a:t>more hops · lower cost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04 ·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Knowledge Representation &amp; Reasoning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508760"/>
            <a:ext cx="3429000" cy="448056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1508760"/>
            <a:ext cx="50292" cy="4480560"/>
          </a:xfrm>
          <a:prstGeom prst="rect">
            <a:avLst/>
          </a:prstGeom>
          <a:solidFill>
            <a:srgbClr val="2ADCBE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1636776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2ADCBE"/>
                </a:solidFill>
                <a:latin typeface="Aptos"/>
              </a:rPr>
              <a:t>ASSERTED FACTS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2020824"/>
            <a:ext cx="3136392" cy="388620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patient_requires_icu(P1)</a:t>
            </a:r>
          </a:p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hospital_has_icu(H2)</a:t>
            </a:r>
          </a:p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hospital_icu_available(H2)</a:t>
            </a:r>
          </a:p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doctor_available(D1)</a:t>
            </a:r>
          </a:p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doctor_specialty(D1, cardiology)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1508760"/>
            <a:ext cx="3429000" cy="448056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1508760"/>
            <a:ext cx="50292" cy="4480560"/>
          </a:xfrm>
          <a:prstGeom prst="rect">
            <a:avLst/>
          </a:prstGeom>
          <a:solidFill>
            <a:srgbClr val="FFB94D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53712" y="1636776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B94D"/>
                </a:solidFill>
                <a:latin typeface="Aptos"/>
              </a:rPr>
              <a:t>RULE / INFERENCE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2020824"/>
            <a:ext cx="3136392" cy="388620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IF patient needs ICU AND hospital ICU is available</a:t>
            </a:r>
          </a:p>
          <a:p>
            <a:pPr>
              <a:spcAft>
                <a:spcPts val="500"/>
              </a:spcAft>
              <a:defRPr sz="1200" b="1">
                <a:solidFill>
                  <a:srgbClr val="FFB94D"/>
                </a:solidFill>
                <a:latin typeface="Aptos"/>
              </a:defRPr>
            </a:pPr>
            <a:r>
              <a:t>•  THEN hospital satisfies ICU requirement</a:t>
            </a:r>
          </a:p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Forward chaining: facts → derived eligibility</a:t>
            </a:r>
          </a:p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Backward chaining: query → required facts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508760"/>
            <a:ext cx="3429000" cy="448056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508760"/>
            <a:ext cx="50292" cy="4480560"/>
          </a:xfrm>
          <a:prstGeom prst="rect">
            <a:avLst/>
          </a:prstGeom>
          <a:solidFill>
            <a:srgbClr val="69E2A4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1636776"/>
            <a:ext cx="313639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69E2A4"/>
                </a:solidFill>
                <a:latin typeface="Aptos"/>
              </a:rPr>
              <a:t>EXPLAINABLE RESULT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2020824"/>
            <a:ext cx="3136392" cy="388620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Query: Can H2 treat P1?</a:t>
            </a:r>
          </a:p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Check ICU requirement</a:t>
            </a:r>
          </a:p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Check specialist availability</a:t>
            </a:r>
          </a:p>
          <a:p>
            <a:pPr>
              <a:spcAft>
                <a:spcPts val="500"/>
              </a:spcAft>
              <a:defRPr sz="1200" b="1">
                <a:solidFill>
                  <a:srgbClr val="69E2A4"/>
                </a:solidFill>
                <a:latin typeface="Aptos"/>
              </a:defRPr>
            </a:pPr>
            <a:r>
              <a:t>•  Result: suitable only if all required constraints hold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144768"/>
            <a:ext cx="10698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A0B5C5"/>
                </a:solidFill>
                <a:latin typeface="Aptos"/>
              </a:rPr>
              <a:t>Predicate-style facts and inference steps are displayed so the decision can be inspected.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05 ·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Utility-Based Hospital Selection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1481328"/>
            <a:ext cx="10835640" cy="9601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1764792"/>
            <a:ext cx="102412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100" b="1" i="0">
                <a:solidFill>
                  <a:srgbClr val="2ADCBE"/>
                </a:solidFill>
                <a:latin typeface="Consolas"/>
              </a:rPr>
              <a:t>U(H) = wᵣ·Resource + wₛ·Specialist − wᵈ·Distance − wₜ·Traffic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2212848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0" i="0">
                <a:solidFill>
                  <a:srgbClr val="A0B5C5"/>
                </a:solidFill>
                <a:latin typeface="Aptos"/>
              </a:rPr>
              <a:t>Weights adapt to emergency severity; critical cases prioritize medical suitability over proximity.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2971800"/>
            <a:ext cx="3337560" cy="192024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8680" y="2971800"/>
            <a:ext cx="50292" cy="1920240"/>
          </a:xfrm>
          <a:prstGeom prst="rect">
            <a:avLst/>
          </a:prstGeom>
          <a:solidFill>
            <a:srgbClr val="FF6670"/>
          </a:solidFill>
          <a:ln w="10160">
            <a:solidFill>
              <a:srgbClr val="F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1" y="3099816"/>
            <a:ext cx="30449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6670"/>
                </a:solidFill>
                <a:latin typeface="Aptos"/>
              </a:rPr>
              <a:t>HOSPITAL H1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1" y="3483864"/>
            <a:ext cx="3044952" cy="132588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ICU unavailable</a:t>
            </a:r>
          </a:p>
          <a:p>
            <a:pPr>
              <a:spcAft>
                <a:spcPts val="500"/>
              </a:spcAft>
              <a:defRPr sz="1200" b="0">
                <a:solidFill>
                  <a:srgbClr val="A0B5C5"/>
                </a:solidFill>
                <a:latin typeface="Aptos"/>
              </a:defRPr>
            </a:pPr>
            <a:r>
              <a:t>•  Distance: 3 km</a:t>
            </a:r>
          </a:p>
          <a:p>
            <a:pPr>
              <a:spcAft>
                <a:spcPts val="500"/>
              </a:spcAft>
              <a:defRPr sz="1200" b="1">
                <a:solidFill>
                  <a:srgbClr val="FF6670"/>
                </a:solidFill>
                <a:latin typeface="Aptos"/>
              </a:defRPr>
            </a:pPr>
            <a:r>
              <a:t>•  REJECTED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17720" y="2971800"/>
            <a:ext cx="3337560" cy="192024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2971800"/>
            <a:ext cx="50292" cy="1920240"/>
          </a:xfrm>
          <a:prstGeom prst="rect">
            <a:avLst/>
          </a:prstGeom>
          <a:solidFill>
            <a:srgbClr val="69E2A4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82312" y="3099816"/>
            <a:ext cx="30449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69E2A4"/>
                </a:solidFill>
                <a:latin typeface="Aptos"/>
              </a:rPr>
              <a:t>HOSPITAL H2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3483864"/>
            <a:ext cx="3044952" cy="132588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ICU + specialist available</a:t>
            </a:r>
          </a:p>
          <a:p>
            <a:pPr>
              <a:spcAft>
                <a:spcPts val="500"/>
              </a:spcAft>
              <a:defRPr sz="1200" b="0">
                <a:solidFill>
                  <a:srgbClr val="A0B5C5"/>
                </a:solidFill>
                <a:latin typeface="Aptos"/>
              </a:defRPr>
            </a:pPr>
            <a:r>
              <a:t>•  Distance: 5 km</a:t>
            </a:r>
          </a:p>
          <a:p>
            <a:pPr>
              <a:spcAft>
                <a:spcPts val="500"/>
              </a:spcAft>
              <a:defRPr sz="1200" b="1">
                <a:solidFill>
                  <a:srgbClr val="69E2A4"/>
                </a:solidFill>
                <a:latin typeface="Aptos"/>
              </a:defRPr>
            </a:pPr>
            <a:r>
              <a:t>•  SELECTED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59" y="2971800"/>
            <a:ext cx="3337560" cy="192024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6759" y="2971800"/>
            <a:ext cx="50292" cy="1920240"/>
          </a:xfrm>
          <a:prstGeom prst="rect">
            <a:avLst/>
          </a:prstGeom>
          <a:solidFill>
            <a:srgbClr val="FF6670"/>
          </a:solidFill>
          <a:ln w="10160">
            <a:solidFill>
              <a:srgbClr val="F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31351" y="3099816"/>
            <a:ext cx="304495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F6670"/>
                </a:solidFill>
                <a:latin typeface="Aptos"/>
              </a:rPr>
              <a:t>HOSPITAL H3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1" y="3483864"/>
            <a:ext cx="3044952" cy="132588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EDF5FA"/>
                </a:solidFill>
                <a:latin typeface="Aptos"/>
              </a:defRPr>
            </a:pPr>
            <a:r>
              <a:t>•  Specialist unavailable</a:t>
            </a:r>
          </a:p>
          <a:p>
            <a:pPr>
              <a:spcAft>
                <a:spcPts val="500"/>
              </a:spcAft>
              <a:defRPr sz="1200" b="0">
                <a:solidFill>
                  <a:srgbClr val="A0B5C5"/>
                </a:solidFill>
                <a:latin typeface="Aptos"/>
              </a:defRPr>
            </a:pPr>
            <a:r>
              <a:t>•  Distance: 2 km</a:t>
            </a:r>
          </a:p>
          <a:p>
            <a:pPr>
              <a:spcAft>
                <a:spcPts val="500"/>
              </a:spcAft>
              <a:defRPr sz="1200" b="1">
                <a:solidFill>
                  <a:srgbClr val="FF6670"/>
                </a:solidFill>
                <a:latin typeface="Aptos"/>
              </a:defRPr>
            </a:pPr>
            <a:r>
              <a:t>•  REJECTED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486400"/>
            <a:ext cx="10881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EDF5FA"/>
                </a:solidFill>
                <a:latin typeface="Aptos"/>
              </a:rPr>
              <a:t>Eligibility rules filter out hospitals that cannot meet hard medical requirements; utility ranks the remaining candidates.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05 · 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Dynamic Replanning Under Uncertainty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148840"/>
            <a:ext cx="1664208" cy="18288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331720"/>
            <a:ext cx="14813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ADCBE"/>
                </a:solidFill>
                <a:latin typeface="Consola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" y="2724912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EDF5FA"/>
                </a:solidFill>
                <a:latin typeface="Aptos"/>
              </a:rPr>
              <a:t>EMERGENCY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127248"/>
            <a:ext cx="1481328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Patient request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85416" y="3063240"/>
            <a:ext cx="219456" cy="0"/>
          </a:xfrm>
          <a:prstGeom prst="line">
            <a:avLst/>
          </a:prstGeom>
          <a:ln w="1905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41448" y="2148840"/>
            <a:ext cx="1664208" cy="18288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32888" y="2331720"/>
            <a:ext cx="14813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2ADCBE"/>
                </a:solidFill>
                <a:latin typeface="Consola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2724912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EDF5FA"/>
                </a:solidFill>
                <a:latin typeface="Aptos"/>
              </a:rPr>
              <a:t>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32888" y="3127248"/>
            <a:ext cx="1481328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Select ambulance, route &amp; hospital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123944" y="3063240"/>
            <a:ext cx="219456" cy="0"/>
          </a:xfrm>
          <a:prstGeom prst="line">
            <a:avLst/>
          </a:prstGeom>
          <a:ln w="1905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379976" y="2148840"/>
            <a:ext cx="1664208" cy="18288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F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71416" y="2331720"/>
            <a:ext cx="14813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6670"/>
                </a:solidFill>
                <a:latin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2724912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EDF5FA"/>
                </a:solidFill>
                <a:latin typeface="Aptos"/>
              </a:rPr>
              <a:t>EVENT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71416" y="3127248"/>
            <a:ext cx="1481328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ICU full / road blocked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62472" y="3063240"/>
            <a:ext cx="219456" cy="0"/>
          </a:xfrm>
          <a:prstGeom prst="line">
            <a:avLst/>
          </a:prstGeom>
          <a:ln w="1905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318504" y="2148840"/>
            <a:ext cx="1664208" cy="18288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9944" y="2331720"/>
            <a:ext cx="14813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B94D"/>
                </a:solidFill>
                <a:latin typeface="Consola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656" y="2724912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EDF5FA"/>
                </a:solidFill>
                <a:latin typeface="Aptos"/>
              </a:rPr>
              <a:t>INVALIDATE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9944" y="3127248"/>
            <a:ext cx="1481328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Old plan no longer valid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01000" y="3063240"/>
            <a:ext cx="219456" cy="0"/>
          </a:xfrm>
          <a:prstGeom prst="line">
            <a:avLst/>
          </a:prstGeom>
          <a:ln w="1905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8257032" y="2148840"/>
            <a:ext cx="1664208" cy="18288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6F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48472" y="2331720"/>
            <a:ext cx="14813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6FB0FF"/>
                </a:solidFill>
                <a:latin typeface="Consolas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0184" y="2724912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EDF5FA"/>
                </a:solidFill>
                <a:latin typeface="Aptos"/>
              </a:rPr>
              <a:t>REPLAN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2" y="3127248"/>
            <a:ext cx="1481328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Re-evaluate + run A*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939528" y="3063240"/>
            <a:ext cx="219456" cy="0"/>
          </a:xfrm>
          <a:prstGeom prst="line">
            <a:avLst/>
          </a:prstGeom>
          <a:ln w="1905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195560" y="2148840"/>
            <a:ext cx="1664208" cy="18288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287000" y="2331720"/>
            <a:ext cx="14813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69E2A4"/>
                </a:solidFill>
                <a:latin typeface="Consolas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68712" y="2724912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EDF5FA"/>
                </a:solidFill>
                <a:latin typeface="Aptos"/>
              </a:rPr>
              <a:t>RESUME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87000" y="3127248"/>
            <a:ext cx="1481328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New route / hospital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97280" y="4709160"/>
            <a:ext cx="9966960" cy="822960"/>
          </a:xfrm>
          <a:prstGeom prst="roundRect">
            <a:avLst/>
          </a:prstGeom>
          <a:solidFill>
            <a:srgbClr val="112A3D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325880" y="4919472"/>
            <a:ext cx="1828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B94D"/>
                </a:solidFill>
                <a:latin typeface="Consolas"/>
              </a:rPr>
              <a:t>SIGNATURE FEATURE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4892040"/>
            <a:ext cx="74980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EDF5FA"/>
                </a:solidFill>
                <a:latin typeface="Aptos"/>
              </a:rPr>
              <a:t>Completed milestones are preserved; only invalid downstream actions are recomputed.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943600"/>
            <a:ext cx="10241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1">
                <a:solidFill>
                  <a:srgbClr val="A0B5C5"/>
                </a:solidFill>
                <a:latin typeface="Aptos"/>
              </a:rPr>
              <a:t>Dynamic events are simulated and controllable through scenario controls.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_clean_infographic_diagram_on_a_white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06 · IMPLEMENTATION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Codebase Structure &amp; Responsibilities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417320"/>
            <a:ext cx="6492240" cy="498348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1627632"/>
            <a:ext cx="6080760" cy="4526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EDF5FA"/>
                </a:solidFill>
                <a:latin typeface="Consolas"/>
              </a:rPr>
              <a:t>FOAI_Project/
├── backend/
│   ├── agents/          Patient, Ambulance, Hospital, Doctor, Traffic, Coordinator
│   ├── search/          BFS, DFS, UCS, Greedy, A*
│   ├── knowledge/       Facts and rules
│   ├── reasoning/       Forward / backward chaining
│   ├── decision/        Utility-based hospital ranking
│   ├── planning/        Emergency plan and replanning
│   ├── communication/   Async publish / subscribe message bus
│   ├── simulation/      Grid, events and state ticks
│   └── main.py          FastAPI entry point
└── frontend/src/
    ├── pages/           Dashboard, Simulation, Search Lab, KB, Analytics
    ├── components/      City grid, agent panels, decision explanation
    ├── services/        REST + WebSocket client
    └── styles/          Vanilla CSS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1508760"/>
            <a:ext cx="3749039" cy="132588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79" y="1508760"/>
            <a:ext cx="50292" cy="1325880"/>
          </a:xfrm>
          <a:prstGeom prst="rect">
            <a:avLst/>
          </a:prstGeom>
          <a:solidFill>
            <a:srgbClr val="2ADCBE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1" y="1636776"/>
            <a:ext cx="345643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ADCBE"/>
                </a:solidFill>
                <a:latin typeface="Aptos"/>
              </a:rPr>
              <a:t>SEPARATION OF CONCERNS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2020824"/>
            <a:ext cx="3456432" cy="731519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DF5FA"/>
                </a:solidFill>
                <a:latin typeface="Aptos"/>
              </a:defRPr>
            </a:pPr>
            <a:r>
              <a:t>•  Agents, search, logic and planning are isolated modules.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79" y="3063240"/>
            <a:ext cx="3749039" cy="132588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98079" y="3063240"/>
            <a:ext cx="50292" cy="1325880"/>
          </a:xfrm>
          <a:prstGeom prst="rect">
            <a:avLst/>
          </a:prstGeom>
          <a:solidFill>
            <a:srgbClr val="6FB0FF"/>
          </a:solidFill>
          <a:ln w="10160">
            <a:solidFill>
              <a:srgbClr val="6F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62671" y="3191256"/>
            <a:ext cx="345643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FB0FF"/>
                </a:solidFill>
                <a:latin typeface="Aptos"/>
              </a:rPr>
              <a:t>REAL-TIME 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1" y="3575304"/>
            <a:ext cx="3456432" cy="731519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DF5FA"/>
                </a:solidFill>
                <a:latin typeface="Aptos"/>
              </a:defRPr>
            </a:pPr>
            <a:r>
              <a:t>•  WebSocket streams simulation state and agent events.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4617720"/>
            <a:ext cx="3749039" cy="132588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98079" y="4617720"/>
            <a:ext cx="50292" cy="1325880"/>
          </a:xfrm>
          <a:prstGeom prst="rect">
            <a:avLst/>
          </a:prstGeom>
          <a:solidFill>
            <a:srgbClr val="FFB94D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62671" y="4745736"/>
            <a:ext cx="345643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B94D"/>
                </a:solidFill>
                <a:latin typeface="Aptos"/>
              </a:rPr>
              <a:t>PERSISTENCE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1" y="5129783"/>
            <a:ext cx="3456432" cy="731519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EDF5FA"/>
                </a:solidFill>
                <a:latin typeface="Aptos"/>
              </a:defRPr>
            </a:pPr>
            <a:r>
              <a:t>•  MongoDB stores runs, decisions, messages and metrics.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07 · DEMONSTRATION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Overall Execution Flow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1600200"/>
            <a:ext cx="2029968" cy="14173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170992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ADCBE"/>
                </a:solidFill>
                <a:latin typeface="Consola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1709928"/>
            <a:ext cx="1417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F5FA"/>
                </a:solidFill>
                <a:latin typeface="Aptos"/>
              </a:rPr>
              <a:t>Incident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130552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PatientAgent emits SOS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606040" y="2313432"/>
            <a:ext cx="246888" cy="0"/>
          </a:xfrm>
          <a:prstGeom prst="line">
            <a:avLst/>
          </a:prstGeom>
          <a:ln w="1651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898648" y="1600200"/>
            <a:ext cx="2029968" cy="14173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0088" y="170992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ADCBE"/>
                </a:solidFill>
                <a:latin typeface="Consolas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1709928"/>
            <a:ext cx="1417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F5FA"/>
                </a:solidFill>
                <a:latin typeface="Aptos"/>
              </a:rPr>
              <a:t>Triage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2130552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Severity + resource needs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37760" y="2313432"/>
            <a:ext cx="246888" cy="0"/>
          </a:xfrm>
          <a:prstGeom prst="line">
            <a:avLst/>
          </a:prstGeom>
          <a:ln w="1651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230368" y="1600200"/>
            <a:ext cx="2029968" cy="14173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21807" y="170992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ADCBE"/>
                </a:solidFill>
                <a:latin typeface="Consola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87568" y="1709928"/>
            <a:ext cx="1417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F5FA"/>
                </a:solidFill>
                <a:latin typeface="Aptos"/>
              </a:rPr>
              <a:t>Eligibility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9240" y="2130552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Knowledge rules filter hospitals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269479" y="2313432"/>
            <a:ext cx="246888" cy="0"/>
          </a:xfrm>
          <a:prstGeom prst="line">
            <a:avLst/>
          </a:prstGeom>
          <a:ln w="1651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7562088" y="1600200"/>
            <a:ext cx="2029968" cy="14173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53527" y="170992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ADCBE"/>
                </a:solidFill>
                <a:latin typeface="Consolas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9288" y="1709928"/>
            <a:ext cx="1417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F5FA"/>
                </a:solidFill>
                <a:latin typeface="Aptos"/>
              </a:rPr>
              <a:t>Utility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2130552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Rank suitable hospitals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601200" y="2313432"/>
            <a:ext cx="246888" cy="0"/>
          </a:xfrm>
          <a:prstGeom prst="line">
            <a:avLst/>
          </a:prstGeom>
          <a:ln w="1651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893807" y="1600200"/>
            <a:ext cx="2029968" cy="14173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85247" y="170992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2ADCBE"/>
                </a:solidFill>
                <a:latin typeface="Consolas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51007" y="1709928"/>
            <a:ext cx="1417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F5FA"/>
                </a:solidFill>
                <a:latin typeface="Aptos"/>
              </a:rPr>
              <a:t>Dispatch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12680" y="2130552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Coordinator assigns ambulance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3657600"/>
            <a:ext cx="2029968" cy="14173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" y="376732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9E2A4"/>
                </a:solidFill>
                <a:latin typeface="Consolas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" y="3767328"/>
            <a:ext cx="1417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F5FA"/>
                </a:solidFill>
                <a:latin typeface="Aptos"/>
              </a:rPr>
              <a:t>Search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187952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Calculate route to patient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606040" y="4370832"/>
            <a:ext cx="246888" cy="0"/>
          </a:xfrm>
          <a:prstGeom prst="line">
            <a:avLst/>
          </a:prstGeom>
          <a:ln w="1651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898648" y="3657600"/>
            <a:ext cx="2029968" cy="14173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90088" y="376732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9E2A4"/>
                </a:solidFill>
                <a:latin typeface="Consolas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55848" y="3767328"/>
            <a:ext cx="1417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F5FA"/>
                </a:solidFill>
                <a:latin typeface="Aptos"/>
              </a:rPr>
              <a:t>Transit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17520" y="4187952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Move + monitor traffic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4937760" y="4370832"/>
            <a:ext cx="246888" cy="0"/>
          </a:xfrm>
          <a:prstGeom prst="line">
            <a:avLst/>
          </a:prstGeom>
          <a:ln w="1651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230368" y="3657600"/>
            <a:ext cx="2029968" cy="14173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21807" y="376732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9E2A4"/>
                </a:solidFill>
                <a:latin typeface="Consolas"/>
              </a:rPr>
              <a:t>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87568" y="3767328"/>
            <a:ext cx="1417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F5FA"/>
                </a:solidFill>
                <a:latin typeface="Aptos"/>
              </a:rPr>
              <a:t>Replan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49240" y="4187952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React to road/resource changes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7269479" y="4370832"/>
            <a:ext cx="246888" cy="0"/>
          </a:xfrm>
          <a:prstGeom prst="line">
            <a:avLst/>
          </a:prstGeom>
          <a:ln w="1651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7562088" y="3657600"/>
            <a:ext cx="2029968" cy="14173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653527" y="376732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9E2A4"/>
                </a:solidFill>
                <a:latin typeface="Consolas"/>
              </a:rPr>
              <a:t>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19288" y="3767328"/>
            <a:ext cx="1417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F5FA"/>
                </a:solidFill>
                <a:latin typeface="Aptos"/>
              </a:rPr>
              <a:t>Admission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80960" y="4187952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Reserve resources + doctor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601200" y="4370832"/>
            <a:ext cx="246888" cy="0"/>
          </a:xfrm>
          <a:prstGeom prst="line">
            <a:avLst/>
          </a:prstGeom>
          <a:ln w="16510">
            <a:solidFill>
              <a:srgbClr val="2ADC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9893807" y="3657600"/>
            <a:ext cx="2029968" cy="141732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85247" y="3767328"/>
            <a:ext cx="3200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69E2A4"/>
                </a:solidFill>
                <a:latin typeface="Consolas"/>
              </a:rPr>
              <a:t>10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51007" y="3767328"/>
            <a:ext cx="14173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EDF5FA"/>
                </a:solidFill>
                <a:latin typeface="Aptos"/>
              </a:rPr>
              <a:t>Complete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12680" y="4187952"/>
            <a:ext cx="17830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A0B5C5"/>
                </a:solidFill>
                <a:latin typeface="Aptos"/>
              </a:rPr>
              <a:t>Record outcome and metrics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10378440" y="3054096"/>
            <a:ext cx="0" cy="649224"/>
          </a:xfrm>
          <a:prstGeom prst="line">
            <a:avLst/>
          </a:prstGeom>
          <a:ln w="16510">
            <a:solidFill>
              <a:srgbClr val="FFB9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22960" y="5989320"/>
            <a:ext cx="10789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B94D"/>
                </a:solidFill>
                <a:latin typeface="Aptos"/>
              </a:rPr>
              <a:t>An event can invalidate a downstream step and trigger a new plan without restarting completed steps.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08 ·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Testing Scenarios &amp;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1417320"/>
            <a:ext cx="5212080" cy="9144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1417320"/>
            <a:ext cx="50292" cy="914400"/>
          </a:xfrm>
          <a:prstGeom prst="rect">
            <a:avLst/>
          </a:prstGeom>
          <a:solidFill>
            <a:srgbClr val="2ADCBE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2" y="1545336"/>
            <a:ext cx="4919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2ADCBE"/>
                </a:solidFill>
                <a:latin typeface="Aptos"/>
              </a:rPr>
              <a:t>01  ·  Baseline emergency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1929384"/>
            <a:ext cx="4919472" cy="32004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EDF5FA"/>
                </a:solidFill>
                <a:latin typeface="Aptos"/>
              </a:defRPr>
            </a:pPr>
            <a:r>
              <a:t>•  End-to-end dispatch, route and admission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417320"/>
            <a:ext cx="5212080" cy="9144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1417320"/>
            <a:ext cx="50292" cy="914400"/>
          </a:xfrm>
          <a:prstGeom prst="rect">
            <a:avLst/>
          </a:prstGeom>
          <a:solidFill>
            <a:srgbClr val="FFB94D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9672" y="1545336"/>
            <a:ext cx="4919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B94D"/>
                </a:solidFill>
                <a:latin typeface="Aptos"/>
              </a:rPr>
              <a:t>02  ·  Parallel emergencies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1929384"/>
            <a:ext cx="4919472" cy="32004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EDF5FA"/>
                </a:solidFill>
                <a:latin typeface="Aptos"/>
              </a:defRPr>
            </a:pPr>
            <a:r>
              <a:t>•  Resource contention and priority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2560320"/>
            <a:ext cx="5212080" cy="9144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2560320"/>
            <a:ext cx="50292" cy="914400"/>
          </a:xfrm>
          <a:prstGeom prst="rect">
            <a:avLst/>
          </a:prstGeom>
          <a:solidFill>
            <a:srgbClr val="FF6670"/>
          </a:solidFill>
          <a:ln w="10160">
            <a:solidFill>
              <a:srgbClr val="FF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" y="2688336"/>
            <a:ext cx="4919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6670"/>
                </a:solidFill>
                <a:latin typeface="Aptos"/>
              </a:rPr>
              <a:t>03  ·  ICU saturation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3072384"/>
            <a:ext cx="4919472" cy="32004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EDF5FA"/>
                </a:solidFill>
                <a:latin typeface="Aptos"/>
              </a:defRPr>
            </a:pPr>
            <a:r>
              <a:t>•  Rule-based hospital rejection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2560320"/>
            <a:ext cx="5212080" cy="9144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2560320"/>
            <a:ext cx="50292" cy="914400"/>
          </a:xfrm>
          <a:prstGeom prst="rect">
            <a:avLst/>
          </a:prstGeom>
          <a:solidFill>
            <a:srgbClr val="6FB0FF"/>
          </a:solidFill>
          <a:ln w="10160">
            <a:solidFill>
              <a:srgbClr val="6FB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2688336"/>
            <a:ext cx="4919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FB0FF"/>
                </a:solidFill>
                <a:latin typeface="Aptos"/>
              </a:rPr>
              <a:t>04  ·  Road blockage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3072384"/>
            <a:ext cx="4919472" cy="32004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EDF5FA"/>
                </a:solidFill>
                <a:latin typeface="Aptos"/>
              </a:defRPr>
            </a:pPr>
            <a:r>
              <a:t>•  Dynamic A* replanning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3703320"/>
            <a:ext cx="5212080" cy="9144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3703320"/>
            <a:ext cx="50292" cy="914400"/>
          </a:xfrm>
          <a:prstGeom prst="rect">
            <a:avLst/>
          </a:prstGeom>
          <a:solidFill>
            <a:srgbClr val="69E2A4"/>
          </a:solidFill>
          <a:ln w="10160">
            <a:solidFill>
              <a:srgbClr val="69E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0392" y="3831335"/>
            <a:ext cx="4919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69E2A4"/>
                </a:solidFill>
                <a:latin typeface="Aptos"/>
              </a:rPr>
              <a:t>05  ·  Specialist unavailable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" y="4215383"/>
            <a:ext cx="4919472" cy="32004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EDF5FA"/>
                </a:solidFill>
                <a:latin typeface="Aptos"/>
              </a:defRPr>
            </a:pPr>
            <a:r>
              <a:t>•  Knowledge-based eligibility check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55080" y="3703320"/>
            <a:ext cx="5212080" cy="9144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5080" y="3703320"/>
            <a:ext cx="50292" cy="914400"/>
          </a:xfrm>
          <a:prstGeom prst="rect">
            <a:avLst/>
          </a:prstGeom>
          <a:solidFill>
            <a:srgbClr val="17978B"/>
          </a:solidFill>
          <a:ln w="10160">
            <a:solidFill>
              <a:srgbClr val="179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9672" y="3831335"/>
            <a:ext cx="4919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7978B"/>
                </a:solidFill>
                <a:latin typeface="Aptos"/>
              </a:rPr>
              <a:t>06  ·  Ambulance contention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19672" y="4215383"/>
            <a:ext cx="4919472" cy="32004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EDF5FA"/>
                </a:solidFill>
                <a:latin typeface="Aptos"/>
              </a:defRPr>
            </a:pPr>
            <a:r>
              <a:t>•  Priority and reassignment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" y="4846320"/>
            <a:ext cx="5212080" cy="91440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85800" y="4846320"/>
            <a:ext cx="50292" cy="914400"/>
          </a:xfrm>
          <a:prstGeom prst="rect">
            <a:avLst/>
          </a:prstGeom>
          <a:solidFill>
            <a:srgbClr val="FFB94D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" y="4974336"/>
            <a:ext cx="49194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FFB94D"/>
                </a:solidFill>
                <a:latin typeface="Aptos"/>
              </a:rPr>
              <a:t>07  ·  Compound stress 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" y="5358383"/>
            <a:ext cx="4919472" cy="32004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EDF5FA"/>
                </a:solidFill>
                <a:latin typeface="Aptos"/>
              </a:defRPr>
            </a:pPr>
            <a:r>
              <a:t>•  Multiple simultaneous failures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6172200"/>
            <a:ext cx="1060704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1">
                <a:solidFill>
                  <a:srgbClr val="A0B5C5"/>
                </a:solidFill>
                <a:latin typeface="Aptos"/>
              </a:rPr>
              <a:t>Validation principle: report measurements from actual runs; do not present illustrative metrics as measured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1234440"/>
            <a:ext cx="7315" cy="5074920"/>
          </a:xfrm>
          <a:prstGeom prst="rect">
            <a:avLst/>
          </a:prstGeom>
          <a:solidFill>
            <a:srgbClr val="0D1D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01168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"/>
            <a:ext cx="324612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A0B5C5"/>
                </a:solidFill>
                <a:latin typeface="Consolas"/>
              </a:rPr>
              <a:t>08 · TESTING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66928"/>
            <a:ext cx="110642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EDF5FA"/>
                </a:solidFill>
                <a:latin typeface="Aptos"/>
              </a:rPr>
              <a:t>Live Demo, Limitations &amp; Future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1170432"/>
            <a:ext cx="11155680" cy="22860"/>
          </a:xfrm>
          <a:prstGeom prst="rect">
            <a:avLst/>
          </a:prstGeom>
          <a:solidFill>
            <a:srgbClr val="2AD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92840" y="6473952"/>
            <a:ext cx="36576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2ADCBE"/>
                </a:solidFill>
                <a:latin typeface="Consolas"/>
              </a:rP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6583680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A0B5C5"/>
                </a:solidFill>
                <a:latin typeface="Consolas"/>
              </a:rPr>
              <a:t>AI-Driven Multi-Agent Emergency Response System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1463040"/>
            <a:ext cx="5303520" cy="448056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1463040"/>
            <a:ext cx="50292" cy="4480560"/>
          </a:xfrm>
          <a:prstGeom prst="rect">
            <a:avLst/>
          </a:prstGeom>
          <a:solidFill>
            <a:srgbClr val="2ADCBE"/>
          </a:solidFill>
          <a:ln w="10160">
            <a:solidFill>
              <a:srgbClr val="2AD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1591056"/>
            <a:ext cx="5010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ADCBE"/>
                </a:solidFill>
                <a:latin typeface="Aptos"/>
              </a:rPr>
              <a:t>DEMO SEQUENCE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1975104"/>
            <a:ext cx="5010912" cy="388620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1. Open Search Lab and compare all five algorithms.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2. Inspect facts, rules and derived eligibility in Knowledge Base.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3. Run dynamic road-blockage scenario.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4. Observe route invalidation, agent messages and replanning.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5. Review decision factors and analytics after completion.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1463040"/>
            <a:ext cx="5303520" cy="448056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1463040"/>
            <a:ext cx="50292" cy="4480560"/>
          </a:xfrm>
          <a:prstGeom prst="rect">
            <a:avLst/>
          </a:prstGeom>
          <a:solidFill>
            <a:srgbClr val="FFB94D"/>
          </a:solidFill>
          <a:ln w="10160">
            <a:solidFill>
              <a:srgbClr val="FFB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1" y="1591056"/>
            <a:ext cx="501091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B94D"/>
                </a:solidFill>
                <a:latin typeface="Aptos"/>
              </a:rPr>
              <a:t>LIMITATIONS &amp; 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1" y="1975104"/>
            <a:ext cx="5010912" cy="3886200"/>
          </a:xfrm>
          <a:prstGeom prst="rect">
            <a:avLst/>
          </a:prstGeom>
          <a:noFill/>
        </p:spPr>
        <p:txBody>
          <a:bodyPr wrap="square" lIns="73152" r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Uses simulated city, traffic and hospital resources.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Not connected to live emergency services or medical records.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Decision rules and weights require careful validation.</a:t>
            </a:r>
          </a:p>
          <a:p>
            <a:pPr>
              <a:spcAft>
                <a:spcPts val="500"/>
              </a:spcAft>
              <a:defRPr sz="1300" b="0">
                <a:solidFill>
                  <a:srgbClr val="EDF5FA"/>
                </a:solidFill>
                <a:latin typeface="Aptos"/>
              </a:defRPr>
            </a:pPr>
            <a:r>
              <a:t>•  Future: larger grids, richer uncertainty models, stronger testing and fairness checks.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27432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2ADCBE"/>
                </a:solidFill>
                <a:latin typeface="Consolas"/>
              </a:rPr>
              <a:t>FOAI  / 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FFB94D"/>
                </a:solidFill>
                <a:latin typeface="Consola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7724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900" b="1" i="0">
                <a:solidFill>
                  <a:srgbClr val="EDF5FA"/>
                </a:solidFill>
                <a:latin typeface="Aptos"/>
              </a:rPr>
              <a:t>A transparent, explainable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77724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500" b="1" i="0">
                <a:solidFill>
                  <a:srgbClr val="2ADCBE"/>
                </a:solidFill>
                <a:latin typeface="Aptos"/>
              </a:rPr>
              <a:t>multi-agent AI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06040"/>
            <a:ext cx="85953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 i="0">
                <a:solidFill>
                  <a:srgbClr val="EDF5FA"/>
                </a:solidFill>
                <a:latin typeface="Aptos"/>
              </a:rPr>
              <a:t>for dynamic emergency coordination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474720"/>
            <a:ext cx="10789920" cy="1325880"/>
          </a:xfrm>
          <a:prstGeom prst="roundRect">
            <a:avLst/>
          </a:prstGeom>
          <a:solidFill>
            <a:srgbClr val="0D1F31"/>
          </a:solidFill>
          <a:ln w="10160">
            <a:solidFill>
              <a:srgbClr val="274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703320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ADCBE"/>
                </a:solidFill>
                <a:latin typeface="Consolas"/>
              </a:rPr>
              <a:t>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023360"/>
            <a:ext cx="2377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EDF5FA"/>
                </a:solidFill>
                <a:latin typeface="Aptos"/>
              </a:rPr>
              <a:t>Autonomous roles + communication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3703320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ADCBE"/>
                </a:solidFill>
                <a:latin typeface="Consolas"/>
              </a:rP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4023360"/>
            <a:ext cx="2377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EDF5FA"/>
                </a:solidFill>
                <a:latin typeface="Aptos"/>
              </a:rPr>
              <a:t>Five strategies + cost-aware routes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3703320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ADCBE"/>
                </a:solidFill>
                <a:latin typeface="Consolas"/>
              </a:rPr>
              <a:t>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4023360"/>
            <a:ext cx="2377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EDF5FA"/>
                </a:solidFill>
                <a:latin typeface="Aptos"/>
              </a:rPr>
              <a:t>Facts, rules, forward/backward chaining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8824" y="3703320"/>
            <a:ext cx="23774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2ADCBE"/>
                </a:solidFill>
                <a:latin typeface="Consolas"/>
              </a:rPr>
              <a:t>ADAPTATION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4023360"/>
            <a:ext cx="2377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0" i="0">
                <a:solidFill>
                  <a:srgbClr val="EDF5FA"/>
                </a:solidFill>
                <a:latin typeface="Aptos"/>
              </a:rPr>
              <a:t>Utility selection + dynamic replanning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03520"/>
            <a:ext cx="3657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 i="0">
                <a:solidFill>
                  <a:srgbClr val="EDF5FA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943600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2ADCBE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172200"/>
            <a:ext cx="4937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 i="0">
                <a:solidFill>
                  <a:srgbClr val="A0B5C5"/>
                </a:solidFill>
                <a:latin typeface="Consolas"/>
              </a:rPr>
              <a:t>Academic simulation only · Not a clinical decision or dispatch 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